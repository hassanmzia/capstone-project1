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Segoe UI"/>
              </a:defRPr>
            </a:pPr>
            <a:r>
              <a:t>CNEAv5 Neural Interfacing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Technical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DD"/>
                </a:solidFill>
                <a:latin typeface="Segoe UI"/>
              </a:defRPr>
            </a:pPr>
            <a:r>
              <a:t>Real-time Neural Data Acquisition, Visualization &amp; Analysis Platform</a:t>
            </a:r>
            <a:br/>
            <a:r>
              <a:t>4096-Channel Electrode Array  |  FPGA Hardware Integration  |  AI-Powered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383280"/>
            <a:ext cx="48463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AA0"/>
                </a:solidFill>
                <a:latin typeface="Segoe UI"/>
              </a:defRPr>
            </a:pPr>
            <a:r>
              <a:t>Eminence Tech Solutions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4FF"/>
                </a:solidFill>
                <a:latin typeface="Segoe UI"/>
              </a:defRPr>
            </a:pPr>
            <a:r>
              <a:t>System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32720" cy="594360"/>
          </a:xfrm>
          <a:prstGeom prst="roundRect">
            <a:avLst/>
          </a:prstGeom>
          <a:solidFill>
            <a:srgbClr val="375A7F"/>
          </a:solidFill>
          <a:ln w="12700">
            <a:solidFill>
              <a:srgbClr val="33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Users / Browsers (Desktop &amp; Mobile)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32720" cy="594360"/>
          </a:xfrm>
          <a:prstGeom prst="roundRect">
            <a:avLst/>
          </a:prstGeom>
          <a:solidFill>
            <a:srgbClr val="4A3A2A"/>
          </a:solidFill>
          <a:ln w="12700">
            <a:solidFill>
              <a:srgbClr val="33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Nginx SSL Reverse Proxy  [:3025 HTTPS / :80 HTTP Redirect]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0332720" cy="5943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33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React Frontend  [TypeScript + Vite + Redux Toolkit + TailwindCSS v4]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474720"/>
            <a:ext cx="10332720" cy="594360"/>
          </a:xfrm>
          <a:prstGeom prst="roundRect">
            <a:avLst/>
          </a:prstGeom>
          <a:solidFill>
            <a:srgbClr val="2A4A2A"/>
          </a:solidFill>
          <a:ln w="12700">
            <a:solidFill>
              <a:srgbClr val="33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Node.js BFF  [Express + Socket.io — WebSocket Relay &amp; REST Proxy — :3026]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06240"/>
            <a:ext cx="10332720" cy="594360"/>
          </a:xfrm>
          <a:prstGeom prst="roundRect">
            <a:avLst/>
          </a:prstGeom>
          <a:solidFill>
            <a:srgbClr val="2A3A2A"/>
          </a:solidFill>
          <a:ln w="12700">
            <a:solidFill>
              <a:srgbClr val="33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Django Backend  [Daphne/ASGI + DRF + Channels + Celery — :8085]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29200"/>
            <a:ext cx="10332720" cy="594360"/>
          </a:xfrm>
          <a:prstGeom prst="roundRect">
            <a:avLst/>
          </a:prstGeom>
          <a:solidFill>
            <a:srgbClr val="3A2A4A"/>
          </a:solidFill>
          <a:ln w="12700">
            <a:solidFill>
              <a:srgbClr val="33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Agent Cluster  [7 FastAPI Microservices + MCP Protocol — :8088-8094]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760720"/>
            <a:ext cx="10332720" cy="594360"/>
          </a:xfrm>
          <a:prstGeom prst="roundRect">
            <a:avLst/>
          </a:prstGeom>
          <a:solidFill>
            <a:srgbClr val="4A2A1E"/>
          </a:solidFill>
          <a:ln w="12700">
            <a:solidFill>
              <a:srgbClr val="33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 Layer  [PostgreSQL 16 + TimescaleDB + pgvector  |  Redis 7]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1508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AA0"/>
                </a:solidFill>
                <a:latin typeface="Segoe UI"/>
              </a:defRPr>
            </a:pPr>
            <a:r>
              <a:t>HTTPS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23317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AA0"/>
                </a:solidFill>
                <a:latin typeface="Segoe UI"/>
              </a:defRPr>
            </a:pPr>
            <a:r>
              <a:t>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30632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AA0"/>
                </a:solidFill>
                <a:latin typeface="Segoe UI"/>
              </a:defRPr>
            </a:pPr>
            <a:r>
              <a:t>WebSocket</a:t>
            </a:r>
            <a:br/>
            <a:r>
              <a:t>+ 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3794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AA0"/>
                </a:solidFill>
                <a:latin typeface="Segoe UI"/>
              </a:defRPr>
            </a:pPr>
            <a:r>
              <a:t>REST API</a:t>
            </a:r>
            <a:br/>
            <a:r>
              <a:t>+ 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45720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AA0"/>
                </a:solidFill>
                <a:latin typeface="Segoe UI"/>
              </a:defRPr>
            </a:pPr>
            <a:r>
              <a:t>MCP + Redis</a:t>
            </a:r>
            <a:br/>
            <a:r>
              <a:t>Pub/Sub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53492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AA0"/>
                </a:solidFill>
                <a:latin typeface="Segoe UI"/>
              </a:defRPr>
            </a:pPr>
            <a:r>
              <a:t>SQL + Redis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" y="5029200"/>
            <a:ext cx="640080" cy="12801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33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FPGA</a:t>
            </a:r>
            <a:br/>
            <a:r>
              <a:t>Hardware</a:t>
            </a:r>
            <a:br/>
            <a:r>
              <a:t>(Opal Kelly)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" y="3840480"/>
            <a:ext cx="640080" cy="73152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33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A855F7"/>
                </a:solidFill>
                <a:latin typeface="Segoe UI"/>
              </a:defRPr>
            </a:pPr>
            <a:r>
              <a:t>Langfuse</a:t>
            </a:r>
            <a:br/>
            <a:r>
              <a:t>LLM Obs</a:t>
            </a:r>
            <a:br/>
            <a:r>
              <a:t>:8095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" y="3108960"/>
            <a:ext cx="640080" cy="64008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33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22C55E"/>
                </a:solidFill>
                <a:latin typeface="Segoe UI"/>
              </a:defRPr>
            </a:pPr>
            <a:r>
              <a:t>Ollama</a:t>
            </a:r>
            <a:br/>
            <a:r>
              <a:t>LLM</a:t>
            </a:r>
            <a:br/>
            <a:r>
              <a:t>Host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Docker Compose Services (14 Containers)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192024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nginx</a:t>
            </a:r>
          </a:p>
          <a:p>
            <a:pPr>
              <a:spcBef>
                <a:spcPts val="200"/>
              </a:spcBef>
              <a:defRPr sz="900">
                <a:solidFill>
                  <a:srgbClr val="888AA0"/>
                </a:solidFill>
                <a:latin typeface="Consolas"/>
              </a:defRPr>
            </a:pPr>
            <a:r>
              <a:t>:3025/:80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SSL Reverse Proxy</a:t>
            </a:r>
            <a:br/>
            <a:r>
              <a:t>TLS 1.2/1.3, HSTS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914400"/>
            <a:ext cx="192024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00D4FF"/>
                </a:solidFill>
                <a:latin typeface="Consolas"/>
              </a:defRPr>
            </a:pPr>
            <a:r>
              <a:t>frontend</a:t>
            </a:r>
          </a:p>
          <a:p>
            <a:pPr>
              <a:spcBef>
                <a:spcPts val="200"/>
              </a:spcBef>
              <a:defRPr sz="900">
                <a:solidFill>
                  <a:srgbClr val="888AA0"/>
                </a:solidFill>
                <a:latin typeface="Consolas"/>
              </a:defRPr>
            </a:pPr>
            <a:r>
              <a:t>Internal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React + Vite + TS</a:t>
            </a:r>
            <a:br/>
            <a:r>
              <a:t>Redux, TailwindCSS v4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914400"/>
            <a:ext cx="192024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22C55E"/>
                </a:solidFill>
                <a:latin typeface="Consolas"/>
              </a:defRPr>
            </a:pPr>
            <a:r>
              <a:t>bff</a:t>
            </a:r>
          </a:p>
          <a:p>
            <a:pPr>
              <a:spcBef>
                <a:spcPts val="200"/>
              </a:spcBef>
              <a:defRPr sz="900">
                <a:solidFill>
                  <a:srgbClr val="888AA0"/>
                </a:solidFill>
                <a:latin typeface="Consolas"/>
              </a:defRPr>
            </a:pPr>
            <a:r>
              <a:t>:3026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Node.js Express</a:t>
            </a:r>
            <a:br/>
            <a:r>
              <a:t>Socket.io + Redis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914400"/>
            <a:ext cx="192024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22C55E"/>
                </a:solidFill>
                <a:latin typeface="Consolas"/>
              </a:defRPr>
            </a:pPr>
            <a:r>
              <a:t>django</a:t>
            </a:r>
          </a:p>
          <a:p>
            <a:pPr>
              <a:spcBef>
                <a:spcPts val="200"/>
              </a:spcBef>
              <a:defRPr sz="900">
                <a:solidFill>
                  <a:srgbClr val="888AA0"/>
                </a:solidFill>
                <a:latin typeface="Consolas"/>
              </a:defRPr>
            </a:pPr>
            <a:r>
              <a:t>:8085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Daphne/ASGI</a:t>
            </a:r>
            <a:br/>
            <a:r>
              <a:t>DRF + Channels + 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914400"/>
            <a:ext cx="192024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EF4444"/>
                </a:solidFill>
                <a:latin typeface="Consolas"/>
              </a:defRPr>
            </a:pPr>
            <a:r>
              <a:t>postgres</a:t>
            </a:r>
          </a:p>
          <a:p>
            <a:pPr>
              <a:spcBef>
                <a:spcPts val="200"/>
              </a:spcBef>
              <a:defRPr sz="900">
                <a:solidFill>
                  <a:srgbClr val="888AA0"/>
                </a:solidFill>
                <a:latin typeface="Consolas"/>
              </a:defRPr>
            </a:pPr>
            <a:r>
              <a:t>:5435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TimescaleDB PG16</a:t>
            </a:r>
            <a:br/>
            <a:r>
              <a:t>pgvector embeddings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0" y="914400"/>
            <a:ext cx="192024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EF4444"/>
                </a:solidFill>
                <a:latin typeface="Consolas"/>
              </a:defRPr>
            </a:pPr>
            <a:r>
              <a:t>redis</a:t>
            </a:r>
          </a:p>
          <a:p>
            <a:pPr>
              <a:spcBef>
                <a:spcPts val="200"/>
              </a:spcBef>
              <a:defRPr sz="900">
                <a:solidFill>
                  <a:srgbClr val="888AA0"/>
                </a:solidFill>
                <a:latin typeface="Consolas"/>
              </a:defRPr>
            </a:pPr>
            <a:r>
              <a:t>:6385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Redis 7 Alpine</a:t>
            </a:r>
            <a:br/>
            <a:r>
              <a:t>Pub/Sub + Cache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743200"/>
            <a:ext cx="192024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A855F7"/>
                </a:solidFill>
                <a:latin typeface="Consolas"/>
              </a:defRPr>
            </a:pPr>
            <a:r>
              <a:t>data-acquisition</a:t>
            </a:r>
          </a:p>
          <a:p>
            <a:pPr>
              <a:spcBef>
                <a:spcPts val="200"/>
              </a:spcBef>
              <a:defRPr sz="900">
                <a:solidFill>
                  <a:srgbClr val="888AA0"/>
                </a:solidFill>
                <a:latin typeface="Consolas"/>
              </a:defRPr>
            </a:pPr>
            <a:r>
              <a:t>:8088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FPGA Data Stream</a:t>
            </a:r>
            <a:br/>
            <a:r>
              <a:t>Channel Sampling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743200"/>
            <a:ext cx="192024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A855F7"/>
                </a:solidFill>
                <a:latin typeface="Consolas"/>
              </a:defRPr>
            </a:pPr>
            <a:r>
              <a:t>signal-processing</a:t>
            </a:r>
          </a:p>
          <a:p>
            <a:pPr>
              <a:spcBef>
                <a:spcPts val="200"/>
              </a:spcBef>
              <a:defRPr sz="900">
                <a:solidFill>
                  <a:srgbClr val="888AA0"/>
                </a:solidFill>
                <a:latin typeface="Consolas"/>
              </a:defRPr>
            </a:pPr>
            <a:r>
              <a:t>:8089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Spike Detection</a:t>
            </a:r>
            <a:br/>
            <a:r>
              <a:t>FFT, Filtering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743200"/>
            <a:ext cx="192024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A855F7"/>
                </a:solidFill>
                <a:latin typeface="Consolas"/>
              </a:defRPr>
            </a:pPr>
            <a:r>
              <a:t>hardware-control</a:t>
            </a:r>
          </a:p>
          <a:p>
            <a:pPr>
              <a:spcBef>
                <a:spcPts val="200"/>
              </a:spcBef>
              <a:defRPr sz="900">
                <a:solidFill>
                  <a:srgbClr val="888AA0"/>
                </a:solidFill>
                <a:latin typeface="Consolas"/>
              </a:defRPr>
            </a:pPr>
            <a:r>
              <a:t>:8090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FPGA Config</a:t>
            </a:r>
            <a:br/>
            <a:r>
              <a:t>Bias/Clock/TIA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743200"/>
            <a:ext cx="192024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A855F7"/>
                </a:solidFill>
                <a:latin typeface="Consolas"/>
              </a:defRPr>
            </a:pPr>
            <a:r>
              <a:t>storage</a:t>
            </a:r>
          </a:p>
          <a:p>
            <a:pPr>
              <a:spcBef>
                <a:spcPts val="200"/>
              </a:spcBef>
              <a:defRPr sz="900">
                <a:solidFill>
                  <a:srgbClr val="888AA0"/>
                </a:solidFill>
                <a:latin typeface="Consolas"/>
              </a:defRPr>
            </a:pPr>
            <a:r>
              <a:t>:8091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Recording Mgmt</a:t>
            </a:r>
            <a:br/>
            <a:r>
              <a:t>HDF5/CSV 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743200"/>
            <a:ext cx="192024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A855F7"/>
                </a:solidFill>
                <a:latin typeface="Consolas"/>
              </a:defRPr>
            </a:pPr>
            <a:r>
              <a:t>ai-ml</a:t>
            </a:r>
          </a:p>
          <a:p>
            <a:pPr>
              <a:spcBef>
                <a:spcPts val="200"/>
              </a:spcBef>
              <a:defRPr sz="900">
                <a:solidFill>
                  <a:srgbClr val="888AA0"/>
                </a:solidFill>
                <a:latin typeface="Consolas"/>
              </a:defRPr>
            </a:pPr>
            <a:r>
              <a:t>:8092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Spike Sorting</a:t>
            </a:r>
            <a:br/>
            <a:r>
              <a:t>Pattern Recognition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0" y="2743200"/>
            <a:ext cx="192024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A855F7"/>
                </a:solidFill>
                <a:latin typeface="Consolas"/>
              </a:defRPr>
            </a:pPr>
            <a:r>
              <a:t>notification</a:t>
            </a:r>
          </a:p>
          <a:p>
            <a:pPr>
              <a:spcBef>
                <a:spcPts val="200"/>
              </a:spcBef>
              <a:defRPr sz="900">
                <a:solidFill>
                  <a:srgbClr val="888AA0"/>
                </a:solidFill>
                <a:latin typeface="Consolas"/>
              </a:defRPr>
            </a:pPr>
            <a:r>
              <a:t>:8093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Alerts &amp; Email</a:t>
            </a:r>
            <a:br/>
            <a:r>
              <a:t>Threshold Monitor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97680"/>
            <a:ext cx="192024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A855F7"/>
                </a:solidFill>
                <a:latin typeface="Consolas"/>
              </a:defRPr>
            </a:pPr>
            <a:r>
              <a:t>llm</a:t>
            </a:r>
          </a:p>
          <a:p>
            <a:pPr>
              <a:spcBef>
                <a:spcPts val="200"/>
              </a:spcBef>
              <a:defRPr sz="900">
                <a:solidFill>
                  <a:srgbClr val="888AA0"/>
                </a:solidFill>
                <a:latin typeface="Consolas"/>
              </a:defRPr>
            </a:pPr>
            <a:r>
              <a:t>:8094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LangGraph Bot</a:t>
            </a:r>
            <a:br/>
            <a:r>
              <a:t>RAG + Ollama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4297680"/>
            <a:ext cx="192024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A855F7"/>
                </a:solidFill>
                <a:latin typeface="Consolas"/>
              </a:defRPr>
            </a:pPr>
            <a:r>
              <a:t>langfuse</a:t>
            </a:r>
          </a:p>
          <a:p>
            <a:pPr>
              <a:spcBef>
                <a:spcPts val="200"/>
              </a:spcBef>
              <a:defRPr sz="900">
                <a:solidFill>
                  <a:srgbClr val="888AA0"/>
                </a:solidFill>
                <a:latin typeface="Consolas"/>
              </a:defRPr>
            </a:pPr>
            <a:r>
              <a:t>:8095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LLM Observability</a:t>
            </a:r>
            <a:br/>
            <a:r>
              <a:t>Tracing &amp;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855F7"/>
                </a:solidFill>
                <a:latin typeface="Segoe UI"/>
              </a:defRPr>
            </a:pPr>
            <a:r>
              <a:t>Agent Cluster (FastAPI + MCP)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0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Infrastructure &amp; Application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3891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AA0"/>
                </a:solidFill>
                <a:latin typeface="Segoe UI"/>
              </a:defRPr>
            </a:pPr>
            <a:r>
              <a:t>Data Flow: FPGA --&gt; Data Acquisition Agent --&gt; Redis Pub/Sub --&gt; Signal Processing --&gt; Django --&gt; BFF (WebSocket) --&gt; Frontend</a:t>
            </a:r>
            <a:br/>
            <a:r>
              <a:t>Control Flow: Frontend --&gt; BFF --&gt; Django REST API --&gt; Agent MCP Tools --&gt; Hardware</a:t>
            </a:r>
            <a:br/>
            <a:r>
              <a:t>Chat Flow: Frontend --&gt; BFF (WebSocket) --&gt; Django --&gt; LLM Agent (LangGraph) --&gt; Ollama/OpenAI/Anthropic</a:t>
            </a:r>
            <a:br/>
            <a:r>
              <a:t>All agents register tools via MCP (Model Context Protocol) with Django MCP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Agent Architecture &amp; MCP Protocol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2286000"/>
            <a:ext cx="3017520" cy="2286000"/>
          </a:xfrm>
          <a:prstGeom prst="roundRect">
            <a:avLst/>
          </a:prstGeom>
          <a:solidFill>
            <a:srgbClr val="1A1D2E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Django MCP Server</a:t>
            </a:r>
          </a:p>
          <a:p>
            <a:br/>
            <a:pPr algn="ctr">
              <a:defRPr sz="1100">
                <a:solidFill>
                  <a:srgbClr val="CCCCDD"/>
                </a:solidFill>
                <a:latin typeface="Segoe UI"/>
              </a:defRPr>
            </a:pPr>
            <a:r>
              <a:t>Tool Registry</a:t>
            </a:r>
            <a:br/>
            <a:r>
              <a:t>Tool Execution</a:t>
            </a:r>
            <a:br/>
            <a:r>
              <a:t>Agent Discovery</a:t>
            </a:r>
            <a:br/>
            <a:r>
              <a:t>Health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320040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A855F7"/>
                </a:solidFill>
                <a:latin typeface="Consolas"/>
              </a:defRPr>
            </a:pPr>
            <a:r>
              <a:t>Data Acquisition</a:t>
            </a:r>
            <a:br/>
            <a:r>
              <a:t>:8088</a:t>
            </a:r>
          </a:p>
          <a:p>
            <a:pPr>
              <a:spcBef>
                <a:spcPts val="400"/>
              </a:spcBef>
              <a:defRPr sz="800" b="1">
                <a:solidFill>
                  <a:srgbClr val="00D4FF"/>
                </a:solidFill>
                <a:latin typeface="Segoe UI"/>
              </a:defRPr>
            </a:pPr>
            <a:r>
              <a:t>MCP Tools:</a:t>
            </a:r>
          </a:p>
          <a:p>
            <a:pPr>
              <a:spcBef>
                <a:spcPts val="200"/>
              </a:spcBef>
              <a:defRPr sz="800">
                <a:solidFill>
                  <a:srgbClr val="888AA0"/>
                </a:solidFill>
                <a:latin typeface="Consolas"/>
              </a:defRPr>
            </a:pPr>
            <a:r>
              <a:t>start_recording</a:t>
            </a:r>
            <a:br/>
            <a:r>
              <a:t>stop_recording</a:t>
            </a:r>
            <a:br/>
            <a:r>
              <a:t>get_channel_data</a:t>
            </a:r>
            <a:br/>
            <a:r>
              <a:t>set_sample_rate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00400"/>
            <a:ext cx="320040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A855F7"/>
                </a:solidFill>
                <a:latin typeface="Consolas"/>
              </a:defRPr>
            </a:pPr>
            <a:r>
              <a:t>Signal Processing</a:t>
            </a:r>
            <a:br/>
            <a:r>
              <a:t>:8089</a:t>
            </a:r>
          </a:p>
          <a:p>
            <a:pPr>
              <a:spcBef>
                <a:spcPts val="400"/>
              </a:spcBef>
              <a:defRPr sz="800" b="1">
                <a:solidFill>
                  <a:srgbClr val="00D4FF"/>
                </a:solidFill>
                <a:latin typeface="Segoe UI"/>
              </a:defRPr>
            </a:pPr>
            <a:r>
              <a:t>MCP Tools:</a:t>
            </a:r>
          </a:p>
          <a:p>
            <a:pPr>
              <a:spcBef>
                <a:spcPts val="200"/>
              </a:spcBef>
              <a:defRPr sz="800">
                <a:solidFill>
                  <a:srgbClr val="888AA0"/>
                </a:solidFill>
                <a:latin typeface="Consolas"/>
              </a:defRPr>
            </a:pPr>
            <a:r>
              <a:t>detect_spikes</a:t>
            </a:r>
            <a:br/>
            <a:r>
              <a:t>apply_filter</a:t>
            </a:r>
            <a:br/>
            <a:r>
              <a:t>run_fft</a:t>
            </a:r>
            <a:br/>
            <a:r>
              <a:t>get_spike_stats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5303520"/>
            <a:ext cx="320040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A855F7"/>
                </a:solidFill>
                <a:latin typeface="Consolas"/>
              </a:defRPr>
            </a:pPr>
            <a:r>
              <a:t>Hardware Control</a:t>
            </a:r>
            <a:br/>
            <a:r>
              <a:t>:8090</a:t>
            </a:r>
          </a:p>
          <a:p>
            <a:pPr>
              <a:spcBef>
                <a:spcPts val="400"/>
              </a:spcBef>
              <a:defRPr sz="800" b="1">
                <a:solidFill>
                  <a:srgbClr val="00D4FF"/>
                </a:solidFill>
                <a:latin typeface="Segoe UI"/>
              </a:defRPr>
            </a:pPr>
            <a:r>
              <a:t>MCP Tools:</a:t>
            </a:r>
          </a:p>
          <a:p>
            <a:pPr>
              <a:spcBef>
                <a:spcPts val="200"/>
              </a:spcBef>
              <a:defRPr sz="800">
                <a:solidFill>
                  <a:srgbClr val="888AA0"/>
                </a:solidFill>
                <a:latin typeface="Consolas"/>
              </a:defRPr>
            </a:pPr>
            <a:r>
              <a:t>set_bias_config</a:t>
            </a:r>
            <a:br/>
            <a:r>
              <a:t>set_clock_config</a:t>
            </a:r>
            <a:br/>
            <a:r>
              <a:t>set_tia_gain</a:t>
            </a:r>
            <a:br/>
            <a:r>
              <a:t>set_stim_params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914400"/>
            <a:ext cx="320040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A855F7"/>
                </a:solidFill>
                <a:latin typeface="Consolas"/>
              </a:defRPr>
            </a:pPr>
            <a:r>
              <a:t>Storage</a:t>
            </a:r>
            <a:br/>
            <a:r>
              <a:t>:8091</a:t>
            </a:r>
          </a:p>
          <a:p>
            <a:pPr>
              <a:spcBef>
                <a:spcPts val="400"/>
              </a:spcBef>
              <a:defRPr sz="800" b="1">
                <a:solidFill>
                  <a:srgbClr val="00D4FF"/>
                </a:solidFill>
                <a:latin typeface="Segoe UI"/>
              </a:defRPr>
            </a:pPr>
            <a:r>
              <a:t>MCP Tools:</a:t>
            </a:r>
          </a:p>
          <a:p>
            <a:pPr>
              <a:spcBef>
                <a:spcPts val="200"/>
              </a:spcBef>
              <a:defRPr sz="800">
                <a:solidFill>
                  <a:srgbClr val="888AA0"/>
                </a:solidFill>
                <a:latin typeface="Consolas"/>
              </a:defRPr>
            </a:pPr>
            <a:r>
              <a:t>save_recording</a:t>
            </a:r>
            <a:br/>
            <a:r>
              <a:t>export_hdf5</a:t>
            </a:r>
            <a:br/>
            <a:r>
              <a:t>export_csv</a:t>
            </a:r>
            <a:br/>
            <a:r>
              <a:t>list_recordings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3200400"/>
            <a:ext cx="320040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A855F7"/>
                </a:solidFill>
                <a:latin typeface="Consolas"/>
              </a:defRPr>
            </a:pPr>
            <a:r>
              <a:t>AI/ML</a:t>
            </a:r>
            <a:br/>
            <a:r>
              <a:t>:8092</a:t>
            </a:r>
          </a:p>
          <a:p>
            <a:pPr>
              <a:spcBef>
                <a:spcPts val="400"/>
              </a:spcBef>
              <a:defRPr sz="800" b="1">
                <a:solidFill>
                  <a:srgbClr val="00D4FF"/>
                </a:solidFill>
                <a:latin typeface="Segoe UI"/>
              </a:defRPr>
            </a:pPr>
            <a:r>
              <a:t>MCP Tools:</a:t>
            </a:r>
          </a:p>
          <a:p>
            <a:pPr>
              <a:spcBef>
                <a:spcPts val="200"/>
              </a:spcBef>
              <a:defRPr sz="800">
                <a:solidFill>
                  <a:srgbClr val="888AA0"/>
                </a:solidFill>
                <a:latin typeface="Consolas"/>
              </a:defRPr>
            </a:pPr>
            <a:r>
              <a:t>sort_spikes</a:t>
            </a:r>
            <a:br/>
            <a:r>
              <a:t>classify_pattern</a:t>
            </a:r>
            <a:br/>
            <a:r>
              <a:t>detect_anomaly</a:t>
            </a:r>
            <a:br/>
            <a:r>
              <a:t>train_model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5303520"/>
            <a:ext cx="320040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A855F7"/>
                </a:solidFill>
                <a:latin typeface="Consolas"/>
              </a:defRPr>
            </a:pPr>
            <a:r>
              <a:t>Notification</a:t>
            </a:r>
            <a:br/>
            <a:r>
              <a:t>:8093</a:t>
            </a:r>
          </a:p>
          <a:p>
            <a:pPr>
              <a:spcBef>
                <a:spcPts val="400"/>
              </a:spcBef>
              <a:defRPr sz="800" b="1">
                <a:solidFill>
                  <a:srgbClr val="00D4FF"/>
                </a:solidFill>
                <a:latin typeface="Segoe UI"/>
              </a:defRPr>
            </a:pPr>
            <a:r>
              <a:t>MCP Tools:</a:t>
            </a:r>
          </a:p>
          <a:p>
            <a:pPr>
              <a:spcBef>
                <a:spcPts val="200"/>
              </a:spcBef>
              <a:defRPr sz="800">
                <a:solidFill>
                  <a:srgbClr val="888AA0"/>
                </a:solidFill>
                <a:latin typeface="Consolas"/>
              </a:defRPr>
            </a:pPr>
            <a:r>
              <a:t>send_alert</a:t>
            </a:r>
            <a:br/>
            <a:r>
              <a:t>set_threshold</a:t>
            </a:r>
            <a:br/>
            <a:r>
              <a:t>get_alert_history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5303520"/>
            <a:ext cx="320040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A855F7"/>
                </a:solidFill>
                <a:latin typeface="Consolas"/>
              </a:defRPr>
            </a:pPr>
            <a:r>
              <a:t>LLM (LangGraph)</a:t>
            </a:r>
            <a:br/>
            <a:r>
              <a:t>:8094</a:t>
            </a:r>
          </a:p>
          <a:p>
            <a:pPr>
              <a:spcBef>
                <a:spcPts val="400"/>
              </a:spcBef>
              <a:defRPr sz="800" b="1">
                <a:solidFill>
                  <a:srgbClr val="00D4FF"/>
                </a:solidFill>
                <a:latin typeface="Segoe UI"/>
              </a:defRPr>
            </a:pPr>
            <a:r>
              <a:t>MCP Tools:</a:t>
            </a:r>
          </a:p>
          <a:p>
            <a:pPr>
              <a:spcBef>
                <a:spcPts val="200"/>
              </a:spcBef>
              <a:defRPr sz="800">
                <a:solidFill>
                  <a:srgbClr val="888AA0"/>
                </a:solidFill>
                <a:latin typeface="Consolas"/>
              </a:defRPr>
            </a:pPr>
            <a:r>
              <a:t>chat_query</a:t>
            </a:r>
            <a:br/>
            <a:r>
              <a:t>rag_search</a:t>
            </a:r>
            <a:br/>
            <a:r>
              <a:t>embed_document</a:t>
            </a:r>
            <a:br/>
            <a:r>
              <a:t>get_context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Frontend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Pages (React Router)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3474720" cy="118872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27000"/>
          <a:lstStyle/>
          <a:p>
            <a:pPr algn="ctr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Dashboard</a:t>
            </a:r>
          </a:p>
          <a:p>
            <a:pPr>
              <a:spcBef>
                <a:spcPts val="400"/>
              </a:spcBef>
              <a:defRPr sz="1000">
                <a:solidFill>
                  <a:srgbClr val="CCCCDD"/>
                </a:solidFill>
                <a:latin typeface="Segoe UI"/>
              </a:defRPr>
            </a:pPr>
            <a:r>
              <a:t>System overview, agent health,</a:t>
            </a:r>
            <a:br/>
            <a:r>
              <a:t>recording stats, quick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280160"/>
            <a:ext cx="3474720" cy="118872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27000"/>
          <a:lstStyle/>
          <a:p>
            <a:pPr algn="ctr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Visualization</a:t>
            </a:r>
          </a:p>
          <a:p>
            <a:pPr>
              <a:spcBef>
                <a:spcPts val="400"/>
              </a:spcBef>
              <a:defRPr sz="1000">
                <a:solidFill>
                  <a:srgbClr val="CCCCDD"/>
                </a:solidFill>
                <a:latin typeface="Segoe UI"/>
              </a:defRPr>
            </a:pPr>
            <a:r>
              <a:t>Real-time 4-panel view:</a:t>
            </a:r>
            <a:br/>
            <a:r>
              <a:t>Heatmap, Raster, Spectrum, Waveform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280160"/>
            <a:ext cx="3474720" cy="118872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27000"/>
          <a:lstStyle/>
          <a:p>
            <a:pPr algn="ctr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Controls</a:t>
            </a:r>
          </a:p>
          <a:p>
            <a:pPr>
              <a:spcBef>
                <a:spcPts val="400"/>
              </a:spcBef>
              <a:defRPr sz="1000">
                <a:solidFill>
                  <a:srgbClr val="CCCCDD"/>
                </a:solidFill>
                <a:latin typeface="Segoe UI"/>
              </a:defRPr>
            </a:pPr>
            <a:r>
              <a:t>FPGA configuration presets,</a:t>
            </a:r>
            <a:br/>
            <a:r>
              <a:t>bias/clock/TIA/gain/stim params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743200"/>
            <a:ext cx="3474720" cy="118872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27000"/>
          <a:lstStyle/>
          <a:p>
            <a:pPr algn="ctr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Recordings</a:t>
            </a:r>
          </a:p>
          <a:p>
            <a:pPr>
              <a:spcBef>
                <a:spcPts val="400"/>
              </a:spcBef>
              <a:defRPr sz="1000">
                <a:solidFill>
                  <a:srgbClr val="CCCCDD"/>
                </a:solidFill>
                <a:latin typeface="Segoe UI"/>
              </a:defRPr>
            </a:pPr>
            <a:r>
              <a:t>Browse, search, filter,</a:t>
            </a:r>
            <a:br/>
            <a:r>
              <a:t>export recordings (HDF5/CSV)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743200"/>
            <a:ext cx="3474720" cy="118872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27000"/>
          <a:lstStyle/>
          <a:p>
            <a:pPr algn="ctr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Experiments</a:t>
            </a:r>
          </a:p>
          <a:p>
            <a:pPr>
              <a:spcBef>
                <a:spcPts val="400"/>
              </a:spcBef>
              <a:defRPr sz="1000">
                <a:solidFill>
                  <a:srgbClr val="CCCCDD"/>
                </a:solidFill>
                <a:latin typeface="Segoe UI"/>
              </a:defRPr>
            </a:pPr>
            <a:r>
              <a:t>Experiment management,</a:t>
            </a:r>
            <a:br/>
            <a:r>
              <a:t>session tracking, annotations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2743200"/>
            <a:ext cx="3474720" cy="118872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27000"/>
          <a:lstStyle/>
          <a:p>
            <a:pPr algn="ctr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Settings</a:t>
            </a:r>
          </a:p>
          <a:p>
            <a:pPr>
              <a:spcBef>
                <a:spcPts val="400"/>
              </a:spcBef>
              <a:defRPr sz="1000">
                <a:solidFill>
                  <a:srgbClr val="CCCCDD"/>
                </a:solidFill>
                <a:latin typeface="Segoe UI"/>
              </a:defRPr>
            </a:pPr>
            <a:r>
              <a:t>User profile, theme,</a:t>
            </a:r>
            <a:br/>
            <a:r>
              <a:t>notification preferences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Redux Toolkit State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663440"/>
            <a:ext cx="2103120" cy="118872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76200"/>
          <a:lstStyle/>
          <a:p>
            <a:pPr algn="ctr">
              <a:defRPr sz="900" b="1">
                <a:solidFill>
                  <a:srgbClr val="F59E0B"/>
                </a:solidFill>
                <a:latin typeface="Consolas"/>
              </a:defRPr>
            </a:pPr>
            <a:r>
              <a:t>recordingSlice</a:t>
            </a:r>
          </a:p>
          <a:p>
            <a:pPr>
              <a:spcBef>
                <a:spcPts val="400"/>
              </a:spcBef>
              <a:defRPr sz="800">
                <a:solidFill>
                  <a:srgbClr val="CCCCDD"/>
                </a:solidFill>
                <a:latin typeface="Segoe UI"/>
              </a:defRPr>
            </a:pPr>
            <a:r>
              <a:t>isRecording, status, duration,</a:t>
            </a:r>
            <a:br/>
            <a:r>
              <a:t>spikeCount, dataRate, bufferUsage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4663440"/>
            <a:ext cx="2103120" cy="118872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76200"/>
          <a:lstStyle/>
          <a:p>
            <a:pPr algn="ctr">
              <a:defRPr sz="900" b="1">
                <a:solidFill>
                  <a:srgbClr val="F59E0B"/>
                </a:solidFill>
                <a:latin typeface="Consolas"/>
              </a:defRPr>
            </a:pPr>
            <a:r>
              <a:t>configSlice</a:t>
            </a:r>
          </a:p>
          <a:p>
            <a:pPr>
              <a:spcBef>
                <a:spcPts val="400"/>
              </a:spcBef>
              <a:defRPr sz="800">
                <a:solidFill>
                  <a:srgbClr val="CCCCDD"/>
                </a:solidFill>
                <a:latin typeface="Segoe UI"/>
              </a:defRPr>
            </a:pPr>
            <a:r>
              <a:t>bias, clock, TIA, gain,</a:t>
            </a:r>
            <a:br/>
            <a:r>
              <a:t>stimulation, pixel, presets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4663440"/>
            <a:ext cx="2103120" cy="118872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76200"/>
          <a:lstStyle/>
          <a:p>
            <a:pPr algn="ctr">
              <a:defRPr sz="900" b="1">
                <a:solidFill>
                  <a:srgbClr val="F59E0B"/>
                </a:solidFill>
                <a:latin typeface="Consolas"/>
              </a:defRPr>
            </a:pPr>
            <a:r>
              <a:t>visualizationSlice</a:t>
            </a:r>
          </a:p>
          <a:p>
            <a:pPr>
              <a:spcBef>
                <a:spcPts val="400"/>
              </a:spcBef>
              <a:defRPr sz="800">
                <a:solidFill>
                  <a:srgbClr val="CCCCDD"/>
                </a:solidFill>
                <a:latin typeface="Segoe UI"/>
              </a:defRPr>
            </a:pPr>
            <a:r>
              <a:t>viewType, activeChannels,</a:t>
            </a:r>
            <a:br/>
            <a:r>
              <a:t>colorScale, timeWindow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4663440"/>
            <a:ext cx="2103120" cy="118872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76200"/>
          <a:lstStyle/>
          <a:p>
            <a:pPr algn="ctr">
              <a:defRPr sz="900" b="1">
                <a:solidFill>
                  <a:srgbClr val="F59E0B"/>
                </a:solidFill>
                <a:latin typeface="Consolas"/>
              </a:defRPr>
            </a:pPr>
            <a:r>
              <a:t>agentsSlice</a:t>
            </a:r>
          </a:p>
          <a:p>
            <a:pPr>
              <a:spcBef>
                <a:spcPts val="400"/>
              </a:spcBef>
              <a:defRPr sz="800">
                <a:solidFill>
                  <a:srgbClr val="CCCCDD"/>
                </a:solidFill>
                <a:latin typeface="Segoe UI"/>
              </a:defRPr>
            </a:pPr>
            <a:r>
              <a:t>agents[], status, health,</a:t>
            </a:r>
            <a:br/>
            <a:r>
              <a:t>metrics per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4663440"/>
            <a:ext cx="2103120" cy="118872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76200"/>
          <a:lstStyle/>
          <a:p>
            <a:pPr algn="ctr">
              <a:defRPr sz="900" b="1">
                <a:solidFill>
                  <a:srgbClr val="F59E0B"/>
                </a:solidFill>
                <a:latin typeface="Consolas"/>
              </a:defRPr>
            </a:pPr>
            <a:r>
              <a:t>chatSlice</a:t>
            </a:r>
          </a:p>
          <a:p>
            <a:pPr>
              <a:spcBef>
                <a:spcPts val="400"/>
              </a:spcBef>
              <a:defRPr sz="800">
                <a:solidFill>
                  <a:srgbClr val="CCCCDD"/>
                </a:solidFill>
                <a:latin typeface="Segoe UI"/>
              </a:defRPr>
            </a:pPr>
            <a:r>
              <a:t>messages[], isPanelOpen,</a:t>
            </a:r>
            <a:br/>
            <a:r>
              <a:t>isLoading,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Data Flow &amp; Communication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1. Real-Time Neural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FPGA</a:t>
            </a:r>
            <a:br/>
            <a:r>
              <a:t>Hardware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37160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Data Acq.</a:t>
            </a:r>
            <a:br/>
            <a:r>
              <a:t>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Redis</a:t>
            </a:r>
            <a:br/>
            <a:r>
              <a:t>Pub/Sub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37160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Signal Proc.</a:t>
            </a:r>
            <a:br/>
            <a:r>
              <a:t>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37160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Django</a:t>
            </a:r>
            <a:br/>
            <a:r>
              <a:t>Channels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37160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BFF</a:t>
            </a:r>
            <a:br/>
            <a:r>
              <a:t>Socket.io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49840" y="137160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React</a:t>
            </a:r>
            <a:br/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468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2. Hardware Control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92608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User</a:t>
            </a:r>
            <a:br/>
            <a:r>
              <a:t>Interaction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292608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React</a:t>
            </a:r>
            <a:br/>
            <a:r>
              <a:t>Frontend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92608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BFF</a:t>
            </a:r>
            <a:br/>
            <a:r>
              <a:t>REST Proxy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92608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Django</a:t>
            </a:r>
            <a:br/>
            <a:r>
              <a:t>REST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92608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MCP Tool</a:t>
            </a:r>
            <a:br/>
            <a:r>
              <a:t>Execution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292608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Hardware</a:t>
            </a:r>
            <a:br/>
            <a:r>
              <a:t>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49840" y="292608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FPGA</a:t>
            </a:r>
            <a:br/>
            <a:r>
              <a:t>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023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Segoe UI"/>
              </a:defRPr>
            </a:pPr>
            <a:r>
              <a:t>3. AI Chat Flow (LangGraph + RAG)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48056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User</a:t>
            </a:r>
            <a:br/>
            <a:r>
              <a:t>Query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448056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BFF</a:t>
            </a:r>
            <a:br/>
            <a:r>
              <a:t>WebSocket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448056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Django</a:t>
            </a:r>
            <a:br/>
            <a:r>
              <a:t>Routing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448056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LLM Agent</a:t>
            </a:r>
            <a:br/>
            <a:r>
              <a:t>LangGraph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448056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RAG</a:t>
            </a:r>
            <a:br/>
            <a:r>
              <a:t>pgvector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448056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Ollama /</a:t>
            </a:r>
            <a:br/>
            <a:r>
              <a:t>OpenAI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49840" y="4480560"/>
            <a:ext cx="1371600" cy="8229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Response</a:t>
            </a:r>
            <a:br/>
            <a:r>
              <a:t>Stream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1298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2C55E"/>
                </a:solidFill>
                <a:latin typeface="Consolas"/>
              </a:defRPr>
            </a:pPr>
            <a:r>
              <a:t>USB 3.0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1298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2C55E"/>
                </a:solidFill>
                <a:latin typeface="Consolas"/>
              </a:defRPr>
            </a:pPr>
            <a:r>
              <a:t>Redis Pub/Sub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1298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2C55E"/>
                </a:solidFill>
                <a:latin typeface="Consolas"/>
              </a:defRPr>
            </a:pPr>
            <a:r>
              <a:t>WebSocket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2852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59E0B"/>
                </a:solidFill>
                <a:latin typeface="Consolas"/>
              </a:defRPr>
            </a:pPr>
            <a:r>
              <a:t>HTTPS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2852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59E0B"/>
                </a:solidFill>
                <a:latin typeface="Consolas"/>
              </a:defRPr>
            </a:pPr>
            <a:r>
              <a:t>REST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2852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59E0B"/>
                </a:solidFill>
                <a:latin typeface="Consolas"/>
              </a:defRPr>
            </a:pPr>
            <a:r>
              <a:t>MCP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4074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A855F7"/>
                </a:solidFill>
                <a:latin typeface="Consolas"/>
              </a:defRPr>
            </a:pPr>
            <a:r>
              <a:t>Socket.io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44074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A855F7"/>
                </a:solidFill>
                <a:latin typeface="Consolas"/>
              </a:defRPr>
            </a:pPr>
            <a:r>
              <a:t>pgvector 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4074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A855F7"/>
                </a:solidFill>
                <a:latin typeface="Consolas"/>
              </a:defRPr>
            </a:pPr>
            <a:r>
              <a:t>HTTP/gRPC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577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AA0"/>
                </a:solidFill>
                <a:latin typeface="Segoe UI"/>
              </a:defRPr>
            </a:pPr>
            <a:r>
              <a:t>WebSocket Channels: recording:data | recording:spikes | chat:message | agents:status | visualization:stream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1828800" cy="502920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/>
          <a:lstStyle/>
          <a:p>
            <a:pPr algn="ctr">
              <a:defRPr sz="1300" b="1">
                <a:solidFill>
                  <a:srgbClr val="00D4FF"/>
                </a:solidFill>
                <a:latin typeface="Segoe UI"/>
              </a:defRPr>
            </a:pPr>
            <a:r>
              <a:t>Frontend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React 18 + TypeScript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Vite Build Tool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Redux Toolkit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TailwindCSS v4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Recharts / D3.js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Socket.io Client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Lucide React Icons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React Router v6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40279" y="914400"/>
            <a:ext cx="1828800" cy="502920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/>
          <a:lstStyle/>
          <a:p>
            <a:pPr algn="ctr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BFF Layer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Node.js 18+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Express.js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Socket.io Server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ioredis Client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Axios HTTP Client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CORS Middleware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914400"/>
            <a:ext cx="1828800" cy="502920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/>
          <a:lstStyle/>
          <a:p>
            <a:pPr algn="ctr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Backend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Python 3.11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Django 5 + DRF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Django Channels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Daphne (ASGI)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Celery Task Queue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djangorestframework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django-cors-headers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199" y="914400"/>
            <a:ext cx="1828800" cy="502920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/>
          <a:lstStyle/>
          <a:p>
            <a:pPr algn="ctr">
              <a:defRPr sz="1300" b="1">
                <a:solidFill>
                  <a:srgbClr val="A855F7"/>
                </a:solidFill>
                <a:latin typeface="Segoe UI"/>
              </a:defRPr>
            </a:pPr>
            <a:r>
              <a:t>AI / Agents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FastAPI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LangGraph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LangChain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Ollama (Local LLM)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OpenAI / Anthropic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pgvector (RAG)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Langfuse (Obs.)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914400"/>
            <a:ext cx="1828800" cy="502920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/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Data Layer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PostgreSQL 16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TimescaleDB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pgvector Extension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Redis 7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HDF5 / CSV 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04120" y="914400"/>
            <a:ext cx="1828800" cy="502920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/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Infrastructure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Docker Compose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Nginx (SSL Proxy)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TLS 1.2/1.3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Let's Encrypt</a:t>
            </a:r>
          </a:p>
          <a:p>
            <a:pPr>
              <a:spcBef>
                <a:spcPts val="600"/>
              </a:spcBef>
              <a:defRPr sz="900">
                <a:solidFill>
                  <a:srgbClr val="CCCCDD"/>
                </a:solidFill>
                <a:latin typeface="Segoe UI"/>
              </a:defRPr>
            </a:pPr>
            <a:r>
              <a:t>  Ubuntu / Linux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Database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3474720" cy="219456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27000"/>
          <a:lstStyle/>
          <a:p>
            <a:pPr algn="ctr">
              <a:defRPr sz="1200" b="1">
                <a:solidFill>
                  <a:srgbClr val="EF4444"/>
                </a:solidFill>
                <a:latin typeface="Consolas"/>
              </a:defRPr>
            </a:pPr>
            <a:r>
              <a:t>recordings</a:t>
            </a:r>
          </a:p>
          <a:p>
            <a:pPr>
              <a:spcBef>
                <a:spcPts val="800"/>
              </a:spcBef>
              <a:defRPr sz="900">
                <a:solidFill>
                  <a:srgbClr val="CCCCDD"/>
                </a:solidFill>
                <a:latin typeface="Consolas"/>
              </a:defRPr>
            </a:pPr>
            <a:r>
              <a:t>id, name, experiment_id,</a:t>
            </a:r>
            <a:br/>
            <a:r>
              <a:t>start_time, end_time, status,</a:t>
            </a:r>
            <a:br/>
            <a:r>
              <a:t>sample_rate, channel_count,</a:t>
            </a:r>
            <a:br/>
            <a:r>
              <a:t>file_path, file_size, metadata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914400"/>
            <a:ext cx="3474720" cy="219456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27000"/>
          <a:lstStyle/>
          <a:p>
            <a:pPr algn="ctr">
              <a:defRPr sz="1200" b="1">
                <a:solidFill>
                  <a:srgbClr val="EF4444"/>
                </a:solidFill>
                <a:latin typeface="Consolas"/>
              </a:defRPr>
            </a:pPr>
            <a:r>
              <a:t>experiments</a:t>
            </a:r>
          </a:p>
          <a:p>
            <a:pPr>
              <a:spcBef>
                <a:spcPts val="800"/>
              </a:spcBef>
              <a:defRPr sz="900">
                <a:solidFill>
                  <a:srgbClr val="CCCCDD"/>
                </a:solidFill>
                <a:latin typeface="Consolas"/>
              </a:defRPr>
            </a:pPr>
            <a:r>
              <a:t>id, name, description,</a:t>
            </a:r>
            <a:br/>
            <a:r>
              <a:t>protocol, status, created_by,</a:t>
            </a:r>
            <a:br/>
            <a:r>
              <a:t>created_at, updated_at,</a:t>
            </a:r>
            <a:br/>
            <a:r>
              <a:t>notes, parameters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914400"/>
            <a:ext cx="3474720" cy="219456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27000"/>
          <a:lstStyle/>
          <a:p>
            <a:pPr algn="ctr">
              <a:defRPr sz="1200" b="1">
                <a:solidFill>
                  <a:srgbClr val="EF4444"/>
                </a:solidFill>
                <a:latin typeface="Consolas"/>
              </a:defRPr>
            </a:pPr>
            <a:r>
              <a:t>neural_data</a:t>
            </a:r>
            <a:br/>
            <a:r>
              <a:t>(TimescaleDB Hypertable)</a:t>
            </a:r>
          </a:p>
          <a:p>
            <a:pPr>
              <a:spcBef>
                <a:spcPts val="800"/>
              </a:spcBef>
              <a:defRPr sz="900">
                <a:solidFill>
                  <a:srgbClr val="CCCCDD"/>
                </a:solidFill>
                <a:latin typeface="Consolas"/>
              </a:defRPr>
            </a:pPr>
            <a:r>
              <a:t>time, recording_id,</a:t>
            </a:r>
            <a:br/>
            <a:r>
              <a:t>channel_id, voltage,</a:t>
            </a:r>
            <a:br/>
            <a:r>
              <a:t>filtered_voltage,</a:t>
            </a:r>
            <a:br/>
            <a:r>
              <a:t>sampled at configurable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474720"/>
            <a:ext cx="3474720" cy="219456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27000"/>
          <a:lstStyle/>
          <a:p>
            <a:pPr algn="ctr">
              <a:defRPr sz="1200" b="1">
                <a:solidFill>
                  <a:srgbClr val="EF4444"/>
                </a:solidFill>
                <a:latin typeface="Consolas"/>
              </a:defRPr>
            </a:pPr>
            <a:r>
              <a:t>spike_events</a:t>
            </a:r>
          </a:p>
          <a:p>
            <a:pPr>
              <a:spcBef>
                <a:spcPts val="800"/>
              </a:spcBef>
              <a:defRPr sz="900">
                <a:solidFill>
                  <a:srgbClr val="CCCCDD"/>
                </a:solidFill>
                <a:latin typeface="Consolas"/>
              </a:defRPr>
            </a:pPr>
            <a:r>
              <a:t>id, recording_id,</a:t>
            </a:r>
            <a:br/>
            <a:r>
              <a:t>channel_id, timestamp,</a:t>
            </a:r>
            <a:br/>
            <a:r>
              <a:t>amplitude, waveform,</a:t>
            </a:r>
            <a:br/>
            <a:r>
              <a:t>cluster_id, sorted_label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3474720"/>
            <a:ext cx="3474720" cy="219456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27000"/>
          <a:lstStyle/>
          <a:p>
            <a:pPr algn="ctr">
              <a:defRPr sz="1200" b="1">
                <a:solidFill>
                  <a:srgbClr val="EF4444"/>
                </a:solidFill>
                <a:latin typeface="Consolas"/>
              </a:defRPr>
            </a:pPr>
            <a:r>
              <a:t>electrode_config</a:t>
            </a:r>
          </a:p>
          <a:p>
            <a:pPr>
              <a:spcBef>
                <a:spcPts val="800"/>
              </a:spcBef>
              <a:defRPr sz="900">
                <a:solidFill>
                  <a:srgbClr val="CCCCDD"/>
                </a:solidFill>
                <a:latin typeface="Consolas"/>
              </a:defRPr>
            </a:pPr>
            <a:r>
              <a:t>id, recording_id,</a:t>
            </a:r>
            <a:br/>
            <a:r>
              <a:t>channel_id, x_pos, y_pos,</a:t>
            </a:r>
            <a:br/>
            <a:r>
              <a:t>impedance, enabled,</a:t>
            </a:r>
            <a:br/>
            <a:r>
              <a:t>bias_settings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3474720"/>
            <a:ext cx="3474720" cy="219456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27000"/>
          <a:lstStyle/>
          <a:p>
            <a:pPr algn="ctr">
              <a:defRPr sz="1200" b="1">
                <a:solidFill>
                  <a:srgbClr val="EF4444"/>
                </a:solidFill>
                <a:latin typeface="Consolas"/>
              </a:defRPr>
            </a:pPr>
            <a:r>
              <a:t>users</a:t>
            </a:r>
          </a:p>
          <a:p>
            <a:pPr>
              <a:spcBef>
                <a:spcPts val="800"/>
              </a:spcBef>
              <a:defRPr sz="900">
                <a:solidFill>
                  <a:srgbClr val="CCCCDD"/>
                </a:solidFill>
                <a:latin typeface="Consolas"/>
              </a:defRPr>
            </a:pPr>
            <a:r>
              <a:t>id, email, name,</a:t>
            </a:r>
            <a:br/>
            <a:r>
              <a:t>role (Admin/Researcher/</a:t>
            </a:r>
            <a:br/>
            <a:r>
              <a:t>Operator/Viewer),</a:t>
            </a:r>
            <a:br/>
            <a:r>
              <a:t>password_hash,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852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9E0B"/>
                </a:solidFill>
                <a:latin typeface="Segoe UI"/>
              </a:defRPr>
            </a:pPr>
            <a:r>
              <a:t>Redis 7:  Pub/Sub Channels (recording_data, spike_events, agent_status)  |  Django Channel Layer  |  Celery Broker  |  Session Cache  |  Rate Limiting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855F7"/>
                </a:solidFill>
                <a:latin typeface="Segoe UI"/>
              </a:defRPr>
            </a:pPr>
            <a:r>
              <a:t>pgvector Extension: 1536-dimensional embeddings for RAG pipeline (LLM Agent document search)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Deployment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Network &amp; SSL Configuration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56032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CCC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CCCCDD"/>
                </a:solidFill>
                <a:latin typeface="Segoe UI"/>
              </a:defRPr>
            </a:pPr>
            <a:r>
              <a:t>Internet / Browser</a:t>
            </a:r>
          </a:p>
          <a:p>
            <a:pPr>
              <a:spcBef>
                <a:spcPts val="400"/>
              </a:spcBef>
              <a:defRPr sz="900">
                <a:solidFill>
                  <a:srgbClr val="888AA0"/>
                </a:solidFill>
                <a:latin typeface="Segoe UI"/>
              </a:defRPr>
            </a:pPr>
            <a:r>
              <a:t>HTTPS :3025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256032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Nginx SSL Proxy</a:t>
            </a:r>
          </a:p>
          <a:p>
            <a:pPr>
              <a:spcBef>
                <a:spcPts val="400"/>
              </a:spcBef>
              <a:defRPr sz="900">
                <a:solidFill>
                  <a:srgbClr val="888AA0"/>
                </a:solidFill>
                <a:latin typeface="Segoe UI"/>
              </a:defRPr>
            </a:pPr>
            <a:r>
              <a:t>TLS 1.2/1.3</a:t>
            </a:r>
            <a:br/>
            <a:r>
              <a:t>HSTS, OCSP Stapling</a:t>
            </a:r>
            <a:br/>
            <a:r>
              <a:t>Modern Cipher 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256032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Frontend</a:t>
            </a:r>
            <a:br/>
            <a:r>
              <a:t>(Internal :80)</a:t>
            </a:r>
          </a:p>
          <a:p>
            <a:pPr>
              <a:spcBef>
                <a:spcPts val="400"/>
              </a:spcBef>
              <a:defRPr sz="900">
                <a:solidFill>
                  <a:srgbClr val="888AA0"/>
                </a:solidFill>
                <a:latin typeface="Segoe UI"/>
              </a:defRPr>
            </a:pPr>
            <a:r>
              <a:t>Static React SPA</a:t>
            </a:r>
            <a:br/>
            <a:r>
              <a:t>Served by Nginx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200400"/>
            <a:ext cx="256032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BFF</a:t>
            </a:r>
            <a:br/>
            <a:r>
              <a:t>(Internal :3026)</a:t>
            </a:r>
          </a:p>
          <a:p>
            <a:pPr>
              <a:spcBef>
                <a:spcPts val="400"/>
              </a:spcBef>
              <a:defRPr sz="900">
                <a:solidFill>
                  <a:srgbClr val="888AA0"/>
                </a:solidFill>
                <a:latin typeface="Segoe UI"/>
              </a:defRPr>
            </a:pPr>
            <a:r>
              <a:t>Express + Socket.io</a:t>
            </a:r>
            <a:br/>
            <a:r>
              <a:t>WebSocket Upgrade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200400"/>
            <a:ext cx="2560320" cy="1463040"/>
          </a:xfrm>
          <a:prstGeom prst="roundRect">
            <a:avLst/>
          </a:prstGeom>
          <a:solidFill>
            <a:srgbClr val="22263A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Django</a:t>
            </a:r>
            <a:br/>
            <a:r>
              <a:t>(Internal :8085)</a:t>
            </a:r>
          </a:p>
          <a:p>
            <a:pPr>
              <a:spcBef>
                <a:spcPts val="400"/>
              </a:spcBef>
              <a:defRPr sz="900">
                <a:solidFill>
                  <a:srgbClr val="888AA0"/>
                </a:solidFill>
                <a:latin typeface="Segoe UI"/>
              </a:defRPr>
            </a:pPr>
            <a:r>
              <a:t>Daphne ASGI</a:t>
            </a:r>
            <a:br/>
            <a:r>
              <a:t>/admin/ + /mcp/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Security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Segoe UI"/>
              </a:defRPr>
            </a:pPr>
            <a:r>
              <a:t>  JWT Authentication with Refresh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509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Segoe UI"/>
              </a:defRPr>
            </a:pPr>
            <a:r>
              <a:t>  Role-Based Access Control (Admin, Researcher, Operator, Viewer)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0702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Segoe UI"/>
              </a:defRPr>
            </a:pPr>
            <a:r>
              <a:t>  SSL/TLS 1.2/1.3 Encryption with HSTS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6305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Segoe UI"/>
              </a:defRPr>
            </a:pPr>
            <a:r>
              <a:t>  CORS Configuration (whitelisted origins)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Segoe UI"/>
              </a:defRPr>
            </a:pPr>
            <a:r>
              <a:t>  Django ORM (SQL Injection Prevention)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3949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Segoe UI"/>
              </a:defRPr>
            </a:pPr>
            <a:r>
              <a:t>  Input Validation &amp; Sanitization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6509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Segoe UI"/>
              </a:defRPr>
            </a:pPr>
            <a:r>
              <a:t>  HTTP Security Headers (X-Frame-Options, X-Content-Type, CSP)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90702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Segoe UI"/>
              </a:defRPr>
            </a:pPr>
            <a:r>
              <a:t>  Redis Password Authentication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616305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Segoe UI"/>
              </a:defRPr>
            </a:pPr>
            <a:r>
              <a:t>  Docker Network Isolation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822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Port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280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FF"/>
                </a:solidFill>
                <a:latin typeface="Consolas"/>
              </a:defRPr>
            </a:pPr>
            <a:r>
              <a:t>3025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280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Segoe UI"/>
              </a:defRPr>
            </a:pPr>
            <a:r>
              <a:t>HTTPS (Nginx)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FF"/>
                </a:solidFill>
                <a:latin typeface="Consolas"/>
              </a:defRPr>
            </a:pPr>
            <a:r>
              <a:t>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1600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Segoe UI"/>
              </a:defRPr>
            </a:pPr>
            <a:r>
              <a:t>HTTP Redirect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19202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FF"/>
                </a:solidFill>
                <a:latin typeface="Consolas"/>
              </a:defRPr>
            </a:pPr>
            <a:r>
              <a:t>3026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9202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Segoe UI"/>
              </a:defRPr>
            </a:pPr>
            <a:r>
              <a:t>BFF (Internal)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2402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FF"/>
                </a:solidFill>
                <a:latin typeface="Consolas"/>
              </a:defRPr>
            </a:pPr>
            <a:r>
              <a:t>8085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2402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Segoe UI"/>
              </a:defRPr>
            </a:pPr>
            <a:r>
              <a:t>Django (Internal)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560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FF"/>
                </a:solidFill>
                <a:latin typeface="Consolas"/>
              </a:defRPr>
            </a:pPr>
            <a:r>
              <a:t>5435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Segoe UI"/>
              </a:defRPr>
            </a:pPr>
            <a:r>
              <a:t>PostgreSQL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FF"/>
                </a:solidFill>
                <a:latin typeface="Consolas"/>
              </a:defRPr>
            </a:pPr>
            <a:r>
              <a:t>6385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880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Segoe UI"/>
              </a:defRPr>
            </a:pPr>
            <a:r>
              <a:t>Redis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320039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FF"/>
                </a:solidFill>
                <a:latin typeface="Consolas"/>
              </a:defRPr>
            </a:pPr>
            <a:r>
              <a:t>8088-8094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20039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Segoe UI"/>
              </a:defRPr>
            </a:pPr>
            <a:r>
              <a:t>Agent Cluster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5204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FF"/>
                </a:solidFill>
                <a:latin typeface="Consolas"/>
              </a:defRPr>
            </a:pPr>
            <a:r>
              <a:t>8095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5204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Segoe UI"/>
              </a:defRPr>
            </a:pPr>
            <a:r>
              <a:t>Langfuse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Architecture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10515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33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52400"/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14 Docker Services</a:t>
            </a:r>
          </a:p>
          <a:p>
            <a:pPr>
              <a:spcBef>
                <a:spcPts val="400"/>
              </a:spcBef>
              <a:defRPr sz="1100">
                <a:solidFill>
                  <a:srgbClr val="CCCCDD"/>
                </a:solidFill>
                <a:latin typeface="Segoe UI"/>
              </a:defRPr>
            </a:pPr>
            <a:r>
              <a:t>Fully containerized microservices architecture with Docker Compose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486400" cy="10515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33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52400"/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7 AI-Powered Agents</a:t>
            </a:r>
          </a:p>
          <a:p>
            <a:pPr>
              <a:spcBef>
                <a:spcPts val="400"/>
              </a:spcBef>
              <a:defRPr sz="1100">
                <a:solidFill>
                  <a:srgbClr val="CCCCDD"/>
                </a:solidFill>
                <a:latin typeface="Segoe UI"/>
              </a:defRPr>
            </a:pPr>
            <a:r>
              <a:t>FastAPI microservices with MCP protocol for tool registration and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51760"/>
            <a:ext cx="5486400" cy="10515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33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52400"/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4096 Channels</a:t>
            </a:r>
          </a:p>
          <a:p>
            <a:pPr>
              <a:spcBef>
                <a:spcPts val="400"/>
              </a:spcBef>
              <a:defRPr sz="1100">
                <a:solidFill>
                  <a:srgbClr val="CCCCDD"/>
                </a:solidFill>
                <a:latin typeface="Segoe UI"/>
              </a:defRPr>
            </a:pPr>
            <a:r>
              <a:t>64x64 electrode array with FPGA hardware interface (Opal Kelly USB 3.0)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651760"/>
            <a:ext cx="5486400" cy="10515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33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52400"/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Real-Time Streaming</a:t>
            </a:r>
          </a:p>
          <a:p>
            <a:pPr>
              <a:spcBef>
                <a:spcPts val="400"/>
              </a:spcBef>
              <a:defRPr sz="1100">
                <a:solidFill>
                  <a:srgbClr val="CCCCDD"/>
                </a:solidFill>
                <a:latin typeface="Segoe UI"/>
              </a:defRPr>
            </a:pPr>
            <a:r>
              <a:t>Sub-second data flow via Redis Pub/Sub and WebSocket (Socket.io)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5486400" cy="10515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33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52400"/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LLM-Powered Assistant</a:t>
            </a:r>
          </a:p>
          <a:p>
            <a:pPr>
              <a:spcBef>
                <a:spcPts val="400"/>
              </a:spcBef>
              <a:defRPr sz="1100">
                <a:solidFill>
                  <a:srgbClr val="CCCCDD"/>
                </a:solidFill>
                <a:latin typeface="Segoe UI"/>
              </a:defRPr>
            </a:pPr>
            <a:r>
              <a:t>LangGraph chatbot with RAG pipeline, supporting Ollama/OpenAI/Anthropic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931920"/>
            <a:ext cx="5486400" cy="10515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33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52400"/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4 Visualization Types</a:t>
            </a:r>
          </a:p>
          <a:p>
            <a:pPr>
              <a:spcBef>
                <a:spcPts val="400"/>
              </a:spcBef>
              <a:defRPr sz="1100">
                <a:solidFill>
                  <a:srgbClr val="CCCCDD"/>
                </a:solidFill>
                <a:latin typeface="Segoe UI"/>
              </a:defRPr>
            </a:pPr>
            <a:r>
              <a:t>Heatmap, Raster Plot, Frequency Spectrum, Waveform — all real-time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212079"/>
            <a:ext cx="5486400" cy="10515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33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52400"/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Role-Based Security</a:t>
            </a:r>
          </a:p>
          <a:p>
            <a:pPr>
              <a:spcBef>
                <a:spcPts val="400"/>
              </a:spcBef>
              <a:defRPr sz="1100">
                <a:solidFill>
                  <a:srgbClr val="CCCCDD"/>
                </a:solidFill>
                <a:latin typeface="Segoe UI"/>
              </a:defRPr>
            </a:pPr>
            <a:r>
              <a:t>JWT auth, 4 user roles, SSL/TLS, CORS, input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5212079"/>
            <a:ext cx="5486400" cy="105156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33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52400"/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Mobile Responsive</a:t>
            </a:r>
          </a:p>
          <a:p>
            <a:pPr>
              <a:spcBef>
                <a:spcPts val="400"/>
              </a:spcBef>
              <a:defRPr sz="1100">
                <a:solidFill>
                  <a:srgbClr val="CCCCDD"/>
                </a:solidFill>
                <a:latin typeface="Segoe UI"/>
              </a:defRPr>
            </a:pPr>
            <a:r>
              <a:t>Full mobile support with adaptive layouts and touch-friendly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AA0"/>
                </a:solidFill>
                <a:latin typeface="Segoe UI"/>
              </a:defRPr>
            </a:pPr>
            <a:r>
              <a:t>CNEAv5 Neural Interfacing Platform  |  Eminence Tech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